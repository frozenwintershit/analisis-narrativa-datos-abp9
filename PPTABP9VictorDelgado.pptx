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4c54e13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4c54e13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4c54e13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4c54e13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4c54e131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4c54e131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4c54e131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4c54e131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4c54e131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4c54e131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4c54e131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4c54e131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550875" y="708275"/>
            <a:ext cx="6008100" cy="233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000"/>
              <a:t>De la Reactividad a la Innovación: Un </a:t>
            </a:r>
            <a:r>
              <a:rPr b="1" i="1" lang="es-419" sz="2000"/>
              <a:t>Insight </a:t>
            </a:r>
            <a:r>
              <a:rPr b="1" lang="es-419" sz="2000"/>
              <a:t>sobre el Rendimiento de los Equipos tecnológicos</a:t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550875" y="3602400"/>
            <a:ext cx="6008100" cy="10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Hecho por: Víctor Delgado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Diagnóstico estratégico sobre el impacto de la deuda técnica en la capacidad de entrega (Q4 2025 - Q1 2026).</a:t>
            </a:r>
            <a:endParaRPr sz="1400"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175" y="2359898"/>
            <a:ext cx="2450975" cy="12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s-419"/>
              <a:t>Situación inicial.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347875"/>
            <a:ext cx="84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-419" sz="2000">
                <a:solidFill>
                  <a:schemeClr val="dk1"/>
                </a:solidFill>
              </a:rPr>
              <a:t>Unidad Solicitante:</a:t>
            </a:r>
            <a:r>
              <a:rPr lang="es-419" sz="2000">
                <a:solidFill>
                  <a:schemeClr val="dk1"/>
                </a:solidFill>
              </a:rPr>
              <a:t> Dirección de Planificación Estratégica.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-419" sz="2000">
                <a:solidFill>
                  <a:schemeClr val="dk1"/>
                </a:solidFill>
              </a:rPr>
              <a:t>El Problema:</a:t>
            </a:r>
            <a:r>
              <a:rPr lang="es-419" sz="2000">
                <a:solidFill>
                  <a:schemeClr val="dk1"/>
                </a:solidFill>
              </a:rPr>
              <a:t> Se detectó una baja persistente en el rendimiento de equipos tecnológicos clave durante los últimos trimestres.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s-419" sz="2000">
                <a:solidFill>
                  <a:schemeClr val="dk1"/>
                </a:solidFill>
              </a:rPr>
              <a:t>La Necesidad:</a:t>
            </a:r>
            <a:r>
              <a:rPr lang="es-419" sz="2000">
                <a:solidFill>
                  <a:schemeClr val="dk1"/>
                </a:solidFill>
              </a:rPr>
              <a:t> Superar los reportes aislados para construir una narrativa clara que permita a la gerencia actuar con precisión.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lt2"/>
                </a:solidFill>
              </a:rPr>
              <a:t>Equipos Tecnológicos Analizados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Para este diagnóstico, nos enfocamos en tres áreas clave cuyo rendimiento interconectado es vital para la planificación estratégica: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Equipo de Desarrollo Core (Backend/Frontend):</a:t>
            </a:r>
            <a:r>
              <a:rPr lang="es-419">
                <a:solidFill>
                  <a:schemeClr val="dk1"/>
                </a:solidFill>
              </a:rPr>
              <a:t> Responsables de crear las nuevas funcionalidades de la plataforma.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Equipo de DevOps e Infraestructura:</a:t>
            </a:r>
            <a:r>
              <a:rPr lang="es-419">
                <a:solidFill>
                  <a:schemeClr val="dk1"/>
                </a:solidFill>
              </a:rPr>
              <a:t> Encargados de la estabilidad de los servidores y el despliegue de código.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419">
                <a:solidFill>
                  <a:schemeClr val="dk1"/>
                </a:solidFill>
              </a:rPr>
              <a:t>Célula de QA y Soporte Técnico de Nivel 3:</a:t>
            </a:r>
            <a:r>
              <a:rPr lang="es-419">
                <a:solidFill>
                  <a:schemeClr val="dk1"/>
                </a:solidFill>
              </a:rPr>
              <a:t> Quienes reciben las incidencias más complejas reportadas por los clientes.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-419" sz="2400"/>
              <a:t>El Hallazgo Clave </a:t>
            </a:r>
            <a:r>
              <a:rPr i="1" lang="es-419" sz="2400"/>
              <a:t>(Insight)</a:t>
            </a:r>
            <a:endParaRPr i="1"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990"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4778"/>
              <a:buFont typeface="Arial"/>
              <a:buNone/>
            </a:pPr>
            <a:r>
              <a:rPr lang="es-419" sz="2008">
                <a:solidFill>
                  <a:schemeClr val="dk1"/>
                </a:solidFill>
              </a:rPr>
              <a:t>Tras el procesamiento de datos en Python, el insight principal no es una falta de esfuerzo del personal, sino un </a:t>
            </a:r>
            <a:r>
              <a:rPr b="1" lang="es-419" sz="2008">
                <a:solidFill>
                  <a:schemeClr val="dk1"/>
                </a:solidFill>
              </a:rPr>
              <a:t>desplazamiento de la capacidad instalada</a:t>
            </a:r>
            <a:r>
              <a:rPr lang="es-419" sz="2008">
                <a:solidFill>
                  <a:schemeClr val="dk1"/>
                </a:solidFill>
              </a:rPr>
              <a:t>.</a:t>
            </a:r>
            <a:endParaRPr sz="2008">
              <a:solidFill>
                <a:schemeClr val="dk1"/>
              </a:solidFill>
            </a:endParaRPr>
          </a:p>
          <a:p>
            <a:pPr indent="-34655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-419" sz="2008">
                <a:solidFill>
                  <a:schemeClr val="dk1"/>
                </a:solidFill>
              </a:rPr>
              <a:t>Evidencia:</a:t>
            </a:r>
            <a:r>
              <a:rPr lang="es-419" sz="2008">
                <a:solidFill>
                  <a:schemeClr val="dk1"/>
                </a:solidFill>
              </a:rPr>
              <a:t> Existe una correlación negativa casi perfecta entre el tiempo dedicado a la resolución de incidencias críticas y el cumplimiento de entregas de nuevos productos.</a:t>
            </a:r>
            <a:endParaRPr sz="2008">
              <a:solidFill>
                <a:schemeClr val="dk1"/>
              </a:solidFill>
            </a:endParaRPr>
          </a:p>
          <a:p>
            <a:pPr indent="-34655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-419" sz="2008">
                <a:solidFill>
                  <a:schemeClr val="dk1"/>
                </a:solidFill>
              </a:rPr>
              <a:t>El Insight:</a:t>
            </a:r>
            <a:r>
              <a:rPr lang="es-419" sz="2008">
                <a:solidFill>
                  <a:schemeClr val="dk1"/>
                </a:solidFill>
              </a:rPr>
              <a:t> El rendimiento "bajo" es una consecuencia directa de la </a:t>
            </a:r>
            <a:r>
              <a:rPr b="1" lang="es-419" sz="2008">
                <a:solidFill>
                  <a:schemeClr val="dk1"/>
                </a:solidFill>
              </a:rPr>
              <a:t>Deuda Técnica Acumulada</a:t>
            </a:r>
            <a:r>
              <a:rPr lang="es-419" sz="2008">
                <a:solidFill>
                  <a:schemeClr val="dk1"/>
                </a:solidFill>
              </a:rPr>
              <a:t> que obliga a los desarrolladores Senior a actuar como soporte de emergencia en lugar de arquitectos de innovación.</a:t>
            </a:r>
            <a:endParaRPr sz="20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/>
              <a:t>Storyboard</a:t>
            </a:r>
            <a:r>
              <a:rPr lang="es-419"/>
              <a:t> de la Situación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4307" l="1915" r="1383" t="19462"/>
          <a:stretch/>
        </p:blipFill>
        <p:spPr>
          <a:xfrm>
            <a:off x="371775" y="1228475"/>
            <a:ext cx="8400450" cy="26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</a:t>
            </a:r>
            <a:r>
              <a:rPr i="1" lang="es-419"/>
              <a:t>Insight </a:t>
            </a:r>
            <a:r>
              <a:rPr lang="es-419"/>
              <a:t>visualizado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538" y="1152475"/>
            <a:ext cx="5858924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Recomendación estratégica	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87900" y="136769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500">
                <a:solidFill>
                  <a:schemeClr val="dk1"/>
                </a:solidFill>
              </a:rPr>
              <a:t>1. El Costo de Oportunidad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</a:rPr>
              <a:t>Cada hora en soporte reactivo es una hora restada a la estrategia. La deuda técnica es un lastre financiero que frena nuestra competitividad.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500">
                <a:solidFill>
                  <a:schemeClr val="dk1"/>
                </a:solidFill>
              </a:rPr>
              <a:t>2. Acciones Basadas en el Insight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419" sz="1500">
                <a:solidFill>
                  <a:schemeClr val="dk1"/>
                </a:solidFill>
              </a:rPr>
              <a:t>Especialización:</a:t>
            </a:r>
            <a:r>
              <a:rPr lang="es-419" sz="1500">
                <a:solidFill>
                  <a:schemeClr val="dk1"/>
                </a:solidFill>
              </a:rPr>
              <a:t> Crear una </a:t>
            </a:r>
            <a:r>
              <a:rPr b="1" lang="es-419" sz="1500">
                <a:solidFill>
                  <a:schemeClr val="dk1"/>
                </a:solidFill>
              </a:rPr>
              <a:t>Célula de Mantenimiento</a:t>
            </a:r>
            <a:r>
              <a:rPr lang="es-419" sz="1500">
                <a:solidFill>
                  <a:schemeClr val="dk1"/>
                </a:solidFill>
              </a:rPr>
              <a:t> que proteja al equipo de desarrollo "Core".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419" sz="1500">
                <a:solidFill>
                  <a:schemeClr val="dk1"/>
                </a:solidFill>
              </a:rPr>
              <a:t>Saneamiento:</a:t>
            </a:r>
            <a:r>
              <a:rPr lang="es-419" sz="1500">
                <a:solidFill>
                  <a:schemeClr val="dk1"/>
                </a:solidFill>
              </a:rPr>
              <a:t> Refactorización priorizada de los módulos con mayor volumen de incidencias.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s-419" sz="1500">
                <a:solidFill>
                  <a:schemeClr val="dk1"/>
                </a:solidFill>
              </a:rPr>
              <a:t>Cultura "Build over Run":</a:t>
            </a:r>
            <a:r>
              <a:rPr lang="es-419" sz="1500">
                <a:solidFill>
                  <a:schemeClr val="dk1"/>
                </a:solidFill>
              </a:rPr>
              <a:t> Transicionar de la corrección a la prevención y robustez técnica.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500">
                <a:solidFill>
                  <a:schemeClr val="dk1"/>
                </a:solidFill>
              </a:rPr>
              <a:t>3. Impacto Proyectado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</a:rPr>
              <a:t>Al separar estas funciones, estimamos recuperar entre un </a:t>
            </a:r>
            <a:r>
              <a:rPr b="1" lang="es-419" sz="1500">
                <a:solidFill>
                  <a:schemeClr val="dk1"/>
                </a:solidFill>
              </a:rPr>
              <a:t>30% y 40% de la capacidad de entrega</a:t>
            </a:r>
            <a:r>
              <a:rPr lang="es-419" sz="1500">
                <a:solidFill>
                  <a:schemeClr val="dk1"/>
                </a:solidFill>
              </a:rPr>
              <a:t> el próximo trimestre, transformando gasto operativo en inversión de innovación pura.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5876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